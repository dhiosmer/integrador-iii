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authors.xml" ContentType="application/vnd.ms-powerpoint.author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9" r:id="rId2"/>
    <p:sldId id="263" r:id="rId3"/>
    <p:sldId id="260" r:id="rId4"/>
    <p:sldId id="264" r:id="rId5"/>
    <p:sldId id="266" r:id="rId6"/>
    <p:sldId id="270" r:id="rId7"/>
    <p:sldId id="275" r:id="rId8"/>
    <p:sldId id="271" r:id="rId9"/>
    <p:sldId id="272" r:id="rId10"/>
    <p:sldId id="273" r:id="rId11"/>
    <p:sldId id="274" r:id="rId12"/>
    <p:sldId id="258" r:id="rId13"/>
  </p:sldIdLst>
  <p:sldSz cx="12192000" cy="6858000"/>
  <p:notesSz cx="6950075" cy="92360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7EB2CB1-6CC0-52DE-E79B-219F242B7F79}" name="Francisco Llanes" initials="F" userId="S::fllanes@unan.edu.ni::5aee38f5-860e-4bfb-9e87-62f4c259df10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74473"/>
    <a:srgbClr val="FAB718"/>
    <a:srgbClr val="0D98D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Estilo claro 2 - Acento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B4B98B0-60AC-42C2-AFA5-B58CD77FA1E5}" styleName="Estilo claro 1 - Acent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132" autoAdjust="0"/>
    <p:restoredTop sz="94660"/>
  </p:normalViewPr>
  <p:slideViewPr>
    <p:cSldViewPr snapToGrid="0">
      <p:cViewPr>
        <p:scale>
          <a:sx n="75" d="100"/>
          <a:sy n="75" d="100"/>
        </p:scale>
        <p:origin x="-114" y="-2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8/10/relationships/authors" Target="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1699" cy="463408"/>
          </a:xfrm>
          <a:prstGeom prst="rect">
            <a:avLst/>
          </a:prstGeom>
        </p:spPr>
        <p:txBody>
          <a:bodyPr vert="horz" lIns="92492" tIns="46246" rIns="92492" bIns="46246" rtlCol="0"/>
          <a:lstStyle>
            <a:lvl1pPr algn="l">
              <a:defRPr sz="1200"/>
            </a:lvl1pPr>
          </a:lstStyle>
          <a:p>
            <a:endParaRPr lang="es-NI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936768" y="0"/>
            <a:ext cx="3011699" cy="463408"/>
          </a:xfrm>
          <a:prstGeom prst="rect">
            <a:avLst/>
          </a:prstGeom>
        </p:spPr>
        <p:txBody>
          <a:bodyPr vert="horz" lIns="92492" tIns="46246" rIns="92492" bIns="46246" rtlCol="0"/>
          <a:lstStyle>
            <a:lvl1pPr algn="r">
              <a:defRPr sz="1200"/>
            </a:lvl1pPr>
          </a:lstStyle>
          <a:p>
            <a:fld id="{E096D6C2-88C4-41EE-9ECB-BAD832CF12AB}" type="datetimeFigureOut">
              <a:rPr lang="es-NI" smtClean="0"/>
              <a:t>20/6/2026</a:t>
            </a:fld>
            <a:endParaRPr lang="es-NI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703263" y="1154113"/>
            <a:ext cx="5543550" cy="31178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492" tIns="46246" rIns="92492" bIns="46246" rtlCol="0" anchor="ctr"/>
          <a:lstStyle/>
          <a:p>
            <a:endParaRPr lang="es-NI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95008" y="4444861"/>
            <a:ext cx="5560060" cy="3636705"/>
          </a:xfrm>
          <a:prstGeom prst="rect">
            <a:avLst/>
          </a:prstGeom>
        </p:spPr>
        <p:txBody>
          <a:bodyPr vert="horz" lIns="92492" tIns="46246" rIns="92492" bIns="46246" rtlCol="0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772669"/>
            <a:ext cx="3011699" cy="463407"/>
          </a:xfrm>
          <a:prstGeom prst="rect">
            <a:avLst/>
          </a:prstGeom>
        </p:spPr>
        <p:txBody>
          <a:bodyPr vert="horz" lIns="92492" tIns="46246" rIns="92492" bIns="46246" rtlCol="0" anchor="b"/>
          <a:lstStyle>
            <a:lvl1pPr algn="l">
              <a:defRPr sz="1200"/>
            </a:lvl1pPr>
          </a:lstStyle>
          <a:p>
            <a:endParaRPr lang="es-NI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936768" y="8772669"/>
            <a:ext cx="3011699" cy="463407"/>
          </a:xfrm>
          <a:prstGeom prst="rect">
            <a:avLst/>
          </a:prstGeom>
        </p:spPr>
        <p:txBody>
          <a:bodyPr vert="horz" lIns="92492" tIns="46246" rIns="92492" bIns="46246" rtlCol="0" anchor="b"/>
          <a:lstStyle>
            <a:lvl1pPr algn="r">
              <a:defRPr sz="1200"/>
            </a:lvl1pPr>
          </a:lstStyle>
          <a:p>
            <a:fld id="{B8644883-4F96-4370-91F7-EC4CCCC9A888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23726846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182" y="1789"/>
            <a:ext cx="12188817" cy="6856210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244282" y="1840523"/>
            <a:ext cx="5231026" cy="2149351"/>
          </a:xfrm>
        </p:spPr>
        <p:txBody>
          <a:bodyPr anchor="b">
            <a:noAutofit/>
          </a:bodyPr>
          <a:lstStyle>
            <a:lvl1pPr algn="l">
              <a:defRPr sz="4400" b="1">
                <a:solidFill>
                  <a:srgbClr val="0D98D7"/>
                </a:solidFill>
                <a:latin typeface="Tw Cen MT" panose="020B0602020104020603" pitchFamily="34" charset="77"/>
                <a:cs typeface="Courier New" panose="02070309020205020404" pitchFamily="49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6244281" y="4242486"/>
            <a:ext cx="5231026" cy="1181450"/>
          </a:xfrm>
        </p:spPr>
        <p:txBody>
          <a:bodyPr/>
          <a:lstStyle>
            <a:lvl1pPr marL="0" indent="0" algn="l">
              <a:buNone/>
              <a:defRPr sz="2400">
                <a:solidFill>
                  <a:srgbClr val="174473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editar el estilo de subtítulo del patrón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854116-522A-43FA-A07B-AF425C3CADE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2D79B-CE85-4CB9-8BC4-26C9F168BC9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57434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301" y="1856"/>
            <a:ext cx="12185521" cy="6854355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400" b="1">
                <a:solidFill>
                  <a:srgbClr val="0D98D7"/>
                </a:solidFill>
                <a:latin typeface="Tw Cen MT" panose="020B0602020104020603" pitchFamily="34" charset="77"/>
                <a:cs typeface="Courier New" panose="02070309020205020404" pitchFamily="49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rgbClr val="174473"/>
                </a:solidFill>
                <a:latin typeface="Calibri cuerpo"/>
              </a:defRPr>
            </a:lvl1pPr>
            <a:lvl2pPr>
              <a:defRPr>
                <a:solidFill>
                  <a:srgbClr val="174473"/>
                </a:solidFill>
                <a:latin typeface="Calibri cuerpo"/>
              </a:defRPr>
            </a:lvl2pPr>
            <a:lvl3pPr>
              <a:defRPr>
                <a:solidFill>
                  <a:srgbClr val="174473"/>
                </a:solidFill>
                <a:latin typeface="Calibri cuerpo"/>
              </a:defRPr>
            </a:lvl3pPr>
            <a:lvl4pPr>
              <a:defRPr>
                <a:solidFill>
                  <a:srgbClr val="174473"/>
                </a:solidFill>
                <a:latin typeface="Calibri cuerpo"/>
              </a:defRPr>
            </a:lvl4pPr>
            <a:lvl5pPr>
              <a:defRPr>
                <a:solidFill>
                  <a:srgbClr val="174473"/>
                </a:solidFill>
                <a:latin typeface="Calibri cuerpo"/>
              </a:defRPr>
            </a:lvl5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854116-522A-43FA-A07B-AF425C3CADE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2D79B-CE85-4CB9-8BC4-26C9F168BC9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13282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854116-522A-43FA-A07B-AF425C3CADE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2D79B-CE85-4CB9-8BC4-26C9F168BC9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34683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854116-522A-43FA-A07B-AF425C3CADE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2D79B-CE85-4CB9-8BC4-26C9F168BC9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15920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854116-522A-43FA-A07B-AF425C3CADE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2D79B-CE85-4CB9-8BC4-26C9F168BC9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7325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854116-522A-43FA-A07B-AF425C3CADE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2D79B-CE85-4CB9-8BC4-26C9F168BC9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1666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854116-522A-43FA-A07B-AF425C3CADE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2D79B-CE85-4CB9-8BC4-26C9F168BC9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04225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854116-522A-43FA-A07B-AF425C3CADE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2D79B-CE85-4CB9-8BC4-26C9F168BC9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60001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854116-522A-43FA-A07B-AF425C3CADE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2D79B-CE85-4CB9-8BC4-26C9F168BC9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56528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854116-522A-43FA-A07B-AF425C3CADE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2D79B-CE85-4CB9-8BC4-26C9F168BC9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16595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854116-522A-43FA-A07B-AF425C3CADE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2D79B-CE85-4CB9-8BC4-26C9F168BC9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24082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854116-522A-43FA-A07B-AF425C3CADE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32D79B-CE85-4CB9-8BC4-26C9F168BC9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4970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D16971-180E-4A01-AA2F-5431FBDF39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30748" y="2205861"/>
            <a:ext cx="7041420" cy="703201"/>
          </a:xfrm>
        </p:spPr>
        <p:txBody>
          <a:bodyPr/>
          <a:lstStyle/>
          <a:p>
            <a:r>
              <a:rPr lang="es-ES" sz="28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Grupo 3</a:t>
            </a:r>
            <a:br>
              <a:rPr lang="es-ES" b="0" dirty="0"/>
            </a:br>
            <a:endParaRPr lang="es-NI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60455E1-CC1F-499D-9945-1FFD9C21EC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86413" y="2557462"/>
            <a:ext cx="5103082" cy="1080536"/>
          </a:xfrm>
        </p:spPr>
        <p:txBody>
          <a:bodyPr>
            <a:normAutofit fontScale="25000" lnSpcReduction="20000"/>
          </a:bodyPr>
          <a:lstStyle/>
          <a:p>
            <a:pPr algn="ctr"/>
            <a:r>
              <a:rPr lang="es-NI" sz="4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Estudiantes</a:t>
            </a:r>
          </a:p>
          <a:p>
            <a:pPr marL="685800" indent="-685800" algn="ctr" fontAlgn="base">
              <a:buFont typeface="Wingdings" panose="05000000000000000000" pitchFamily="2" charset="2"/>
              <a:buChar char="v"/>
            </a:pPr>
            <a:r>
              <a:rPr lang="es-NI" sz="4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Dhiosmer José Cuadra Miranda</a:t>
            </a:r>
          </a:p>
          <a:p>
            <a:pPr marL="685800" indent="-685800" algn="ctr" fontAlgn="base">
              <a:buFont typeface="Wingdings" panose="05000000000000000000" pitchFamily="2" charset="2"/>
              <a:buChar char="v"/>
            </a:pPr>
            <a:r>
              <a:rPr lang="es-NI" sz="4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Soraya </a:t>
            </a:r>
            <a:r>
              <a:rPr lang="es-NI" sz="4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Lidieth</a:t>
            </a:r>
            <a:r>
              <a:rPr lang="es-NI" sz="4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Calero </a:t>
            </a:r>
            <a:r>
              <a:rPr lang="es-NI" sz="4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Calero</a:t>
            </a:r>
            <a:endParaRPr lang="es-NI" sz="4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85800" indent="-685800" algn="ctr" fontAlgn="base">
              <a:buFont typeface="Wingdings" panose="05000000000000000000" pitchFamily="2" charset="2"/>
              <a:buChar char="v"/>
            </a:pPr>
            <a:r>
              <a:rPr lang="es-NI" sz="4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 Gabriela </a:t>
            </a:r>
            <a:r>
              <a:rPr lang="es-NI" sz="4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Irias</a:t>
            </a:r>
            <a:r>
              <a:rPr lang="es-NI" sz="4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Murillo</a:t>
            </a:r>
          </a:p>
          <a:p>
            <a:pPr algn="ctr"/>
            <a:r>
              <a:rPr lang="es-NI" sz="4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Docente</a:t>
            </a:r>
          </a:p>
          <a:p>
            <a:pPr marL="685800" indent="-685800" algn="ctr" fontAlgn="base">
              <a:buFont typeface="Wingdings" panose="05000000000000000000" pitchFamily="2" charset="2"/>
              <a:buChar char="v"/>
            </a:pPr>
            <a:r>
              <a:rPr lang="es-NI" sz="4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Jonathan Moreno</a:t>
            </a:r>
          </a:p>
          <a:p>
            <a:pPr marL="685800" indent="-685800" algn="ctr" fontAlgn="base">
              <a:buFont typeface="Wingdings" panose="05000000000000000000" pitchFamily="2" charset="2"/>
              <a:buChar char="v"/>
            </a:pPr>
            <a:r>
              <a:rPr lang="es-NI" sz="4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Yesenia </a:t>
            </a:r>
            <a:r>
              <a:rPr lang="es-NI" sz="4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Tellez</a:t>
            </a:r>
            <a:endParaRPr lang="es-NI" sz="4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85800" indent="-685800" algn="ctr" fontAlgn="base">
              <a:buFont typeface="Wingdings" panose="05000000000000000000" pitchFamily="2" charset="2"/>
              <a:buChar char="v"/>
            </a:pPr>
            <a:r>
              <a:rPr lang="es-NI" sz="4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Isamar Bonilla</a:t>
            </a:r>
          </a:p>
          <a:p>
            <a:pPr marL="685800" indent="-685800" algn="ctr" fontAlgn="base">
              <a:buFont typeface="Wingdings" panose="05000000000000000000" pitchFamily="2" charset="2"/>
              <a:buChar char="v"/>
            </a:pPr>
            <a:r>
              <a:rPr lang="es-NI" sz="4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Maria</a:t>
            </a:r>
            <a:r>
              <a:rPr lang="es-NI" sz="4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NI" sz="4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Rios</a:t>
            </a:r>
            <a:r>
              <a:rPr lang="es-NI" sz="4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marL="685800" indent="-685800" algn="ctr" fontAlgn="base">
              <a:buFont typeface="Wingdings" panose="05000000000000000000" pitchFamily="2" charset="2"/>
              <a:buChar char="v"/>
            </a:pPr>
            <a:r>
              <a:rPr lang="es-NI" sz="4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Carlos </a:t>
            </a:r>
            <a:r>
              <a:rPr lang="es-NI" sz="4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Matamoro</a:t>
            </a:r>
            <a:r>
              <a:rPr lang="es-NI" sz="4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endParaRPr lang="es-NI" sz="5600" dirty="0"/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49C166A1-929D-44A8-AC97-32F41B2C9762}"/>
              </a:ext>
            </a:extLst>
          </p:cNvPr>
          <p:cNvSpPr txBox="1">
            <a:spLocks/>
          </p:cNvSpPr>
          <p:nvPr/>
        </p:nvSpPr>
        <p:spPr>
          <a:xfrm>
            <a:off x="609601" y="432825"/>
            <a:ext cx="11003819" cy="214935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D98D7"/>
                </a:solidFill>
                <a:latin typeface="Tw Cen MT" panose="020B0602020104020603" pitchFamily="34" charset="77"/>
                <a:ea typeface="+mj-ea"/>
                <a:cs typeface="Courier New" panose="02070309020205020404" pitchFamily="49" charset="0"/>
              </a:defRPr>
            </a:lvl1pPr>
          </a:lstStyle>
          <a:p>
            <a:r>
              <a:rPr lang="es-ES" b="0" dirty="0"/>
              <a:t>“</a:t>
            </a:r>
            <a:r>
              <a:rPr lang="es-ES" sz="3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Desarrollo de un Sistema de gestión de escritorio para el centro de estudio Leopoldina Castrillo </a:t>
            </a:r>
            <a:r>
              <a:rPr lang="es-ES" b="0" dirty="0"/>
              <a:t>”</a:t>
            </a:r>
            <a:br>
              <a:rPr lang="es-ES" b="0" dirty="0"/>
            </a:br>
            <a:endParaRPr lang="es-NI" dirty="0"/>
          </a:p>
        </p:txBody>
      </p:sp>
    </p:spTree>
    <p:extLst>
      <p:ext uri="{BB962C8B-B14F-4D97-AF65-F5344CB8AC3E}">
        <p14:creationId xmlns:p14="http://schemas.microsoft.com/office/powerpoint/2010/main" val="11405943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0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set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C6B4CC-065F-C12E-E76D-7784420D30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31900"/>
            <a:ext cx="10515600" cy="1968500"/>
          </a:xfrm>
        </p:spPr>
        <p:txBody>
          <a:bodyPr>
            <a:normAutofit fontScale="90000"/>
          </a:bodyPr>
          <a:lstStyle/>
          <a:p>
            <a:r>
              <a:rPr lang="es-E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Tema </a:t>
            </a:r>
            <a:br>
              <a:rPr lang="es-E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s-ES" sz="3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Desarrollo de una Sistema de gestión de escritorio para el centro de estudio Leopoldina Castrillo</a:t>
            </a:r>
            <a:br>
              <a:rPr lang="es-ES" b="0" dirty="0"/>
            </a:br>
            <a:br>
              <a:rPr lang="es-ES" dirty="0"/>
            </a:br>
            <a:endParaRPr lang="es-MX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2CD094F-1AB3-3B9F-74E0-D11FA2B0EE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962399"/>
            <a:ext cx="10515600" cy="2214563"/>
          </a:xfrm>
        </p:spPr>
        <p:txBody>
          <a:bodyPr/>
          <a:lstStyle/>
          <a:p>
            <a:pPr marL="0" indent="0">
              <a:buNone/>
            </a:pP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8475405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BEB705-7A63-19D7-6C1C-57D50F883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35BA8AD-FC36-6BBC-9BBB-B2C4548688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br>
              <a:rPr lang="es-ES" dirty="0"/>
            </a:br>
            <a:r>
              <a:rPr lang="es-ES" b="1" dirty="0"/>
              <a:t>  </a:t>
            </a:r>
            <a:r>
              <a:rPr lang="es-ES" b="1" dirty="0">
                <a:solidFill>
                  <a:schemeClr val="tx1"/>
                </a:solidFill>
              </a:rPr>
              <a:t>Objetivo general</a:t>
            </a:r>
          </a:p>
          <a:p>
            <a:pPr marL="0" indent="0">
              <a:buNone/>
            </a:pPr>
            <a:br>
              <a:rPr lang="es-ES" dirty="0">
                <a:solidFill>
                  <a:schemeClr val="tx1"/>
                </a:solidFill>
              </a:rPr>
            </a:br>
            <a:r>
              <a:rPr lang="es-ES" dirty="0">
                <a:solidFill>
                  <a:schemeClr val="tx1"/>
                </a:solidFill>
              </a:rPr>
              <a:t>Desarrollar una aplicación de escritorio para el centro de estudio Leopoldina Castrillo  que registre datos del estudiante, datos del docente, matrícula, notas, cortes evaluativos y asistencias</a:t>
            </a:r>
          </a:p>
          <a:p>
            <a:r>
              <a:rPr lang="es-ES" b="1" dirty="0">
                <a:solidFill>
                  <a:schemeClr val="tx1"/>
                </a:solidFill>
              </a:rPr>
              <a:t>Objetivos específicos</a:t>
            </a:r>
          </a:p>
          <a:p>
            <a:pPr fontAlgn="base"/>
            <a:br>
              <a:rPr lang="es-ES" dirty="0">
                <a:solidFill>
                  <a:schemeClr val="tx1"/>
                </a:solidFill>
              </a:rPr>
            </a:br>
            <a:r>
              <a:rPr lang="es-ES" b="1" dirty="0">
                <a:solidFill>
                  <a:schemeClr val="tx1"/>
                </a:solidFill>
              </a:rPr>
              <a:t>Modelar</a:t>
            </a:r>
            <a:r>
              <a:rPr lang="es-ES" dirty="0">
                <a:solidFill>
                  <a:schemeClr val="tx1"/>
                </a:solidFill>
              </a:rPr>
              <a:t> el sistema utilizando el paradigma </a:t>
            </a:r>
            <a:r>
              <a:rPr lang="es-ES" b="1" dirty="0">
                <a:solidFill>
                  <a:schemeClr val="tx1"/>
                </a:solidFill>
              </a:rPr>
              <a:t>POO</a:t>
            </a:r>
            <a:r>
              <a:rPr lang="es-ES" dirty="0">
                <a:solidFill>
                  <a:schemeClr val="tx1"/>
                </a:solidFill>
              </a:rPr>
              <a:t>, definiendo las clases y métodos necesarios para gestionar los roles de Administrador, Secretaria, Docente y Estudiante, asegurando la integridad de la información</a:t>
            </a:r>
          </a:p>
          <a:p>
            <a:pPr fontAlgn="base"/>
            <a:r>
              <a:rPr lang="es-ES" b="1" dirty="0">
                <a:solidFill>
                  <a:schemeClr val="tx1"/>
                </a:solidFill>
              </a:rPr>
              <a:t>Desarrollar</a:t>
            </a:r>
            <a:r>
              <a:rPr lang="es-ES" dirty="0">
                <a:solidFill>
                  <a:schemeClr val="tx1"/>
                </a:solidFill>
              </a:rPr>
              <a:t> la aplicación de escritorio con conectividad </a:t>
            </a:r>
            <a:r>
              <a:rPr lang="es-ES" dirty="0" err="1">
                <a:solidFill>
                  <a:schemeClr val="tx1"/>
                </a:solidFill>
              </a:rPr>
              <a:t>Wi</a:t>
            </a:r>
            <a:r>
              <a:rPr lang="es-ES" dirty="0">
                <a:solidFill>
                  <a:schemeClr val="tx1"/>
                </a:solidFill>
              </a:rPr>
              <a:t>-Fi local para el uso administrativo</a:t>
            </a:r>
          </a:p>
          <a:p>
            <a:pPr fontAlgn="base"/>
            <a:r>
              <a:rPr lang="es-ES" b="1" dirty="0">
                <a:solidFill>
                  <a:schemeClr val="tx1"/>
                </a:solidFill>
              </a:rPr>
              <a:t>Evaluar</a:t>
            </a:r>
            <a:r>
              <a:rPr lang="es-ES" dirty="0">
                <a:solidFill>
                  <a:schemeClr val="tx1"/>
                </a:solidFill>
              </a:rPr>
              <a:t> el impacto del sistema mediante el análisis estadístico de los tiempos de respuesta y la precisión de los reportes generados, asegurando que la herramienta contribuya a la calidad educativa del centro.</a:t>
            </a:r>
          </a:p>
          <a:p>
            <a:pPr marL="0" indent="0">
              <a:buNone/>
            </a:pPr>
            <a:br>
              <a:rPr lang="es-ES" dirty="0"/>
            </a:b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1178660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BEB705-7A63-19D7-6C1C-57D50F883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35BA8AD-FC36-6BBC-9BBB-B2C4548688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s-ES" b="1" dirty="0"/>
              <a:t> Introducción</a:t>
            </a:r>
          </a:p>
          <a:p>
            <a:br>
              <a:rPr lang="es-ES" dirty="0"/>
            </a:br>
            <a:r>
              <a:rPr lang="es-ES" dirty="0"/>
              <a:t>El desarrollo de la aplicación  para el colegio  Leopoldina Castrillo Morales, en la ciudad de Juigalpa, Chontales, se llevará a cabo mediante el uso de una aplicación de escritorio donde se tendrá acceso disponible.</a:t>
            </a:r>
          </a:p>
          <a:p>
            <a:br>
              <a:rPr lang="es-ES" dirty="0"/>
            </a:br>
            <a:r>
              <a:rPr lang="es-ES" dirty="0"/>
              <a:t>Ya que en la actualidad el registro de asistencias, notas de estudiantes y matrículas es uno de los principales procesos que se lleva a cabo día a día, tradicionalmente este registro se realiza de manera manual, lo que tiende a tener errores continuamente y esto reduce  la entrega de notas y estabilidad de los estudiantes.</a:t>
            </a:r>
          </a:p>
          <a:p>
            <a:br>
              <a:rPr lang="es-ES" dirty="0"/>
            </a:b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7450058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BEB705-7A63-19D7-6C1C-57D50F883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35BA8AD-FC36-6BBC-9BBB-B2C4548688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sz="1700" b="1" dirty="0"/>
              <a:t>Descripción de la problemática</a:t>
            </a:r>
          </a:p>
          <a:p>
            <a:r>
              <a:rPr lang="es-ES" sz="1700" dirty="0"/>
              <a:t>El centro de Estudio Leopoldina Castrillo enfrenta serias dificultades en la gestión de sus operaciones académicas y administrativas debido a que todos sus procesos se realizan de forma manual. La información relacionada con notas, asistencias, matrículas y datos de los estudiantes se registra únicamente en papel, lo cual genera desorden y dificulta el control adecuado de las actividades. Esta práctica tradicional no se adapta a las necesidades actuales, donde la eficiencia y la agilidad son fundamentales para brindar un servicio educativo confiable y de calidad.</a:t>
            </a:r>
          </a:p>
          <a:p>
            <a:r>
              <a:rPr lang="es-ES" sz="1700" dirty="0"/>
              <a:t>El uso de registros manuales ha provocado la pérdida frecuente de notas y documentos importantes, el registro incorrecto de asistencias, la pérdida de matrículas y una gran dificultad para actualizar o modificar los datos de los estudiantes cuando es necesario. Además, no existe un mecanismo estructurado que permita acceder rápidamente al historial académico de los alumnos o a su información personal actualizada. Esta falta de organización genera confusión interna, duplicidad de tareas y una menor satisfacción por parte de los padres de familia y estudiantes.</a:t>
            </a:r>
          </a:p>
          <a:p>
            <a:br>
              <a:rPr lang="es-ES" dirty="0"/>
            </a:b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0551839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C6B4CC-065F-C12E-E76D-7784420D30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31900"/>
            <a:ext cx="10515600" cy="1968500"/>
          </a:xfrm>
        </p:spPr>
        <p:txBody>
          <a:bodyPr>
            <a:normAutofit/>
          </a:bodyPr>
          <a:lstStyle/>
          <a:p>
            <a:br>
              <a:rPr lang="es-ES" dirty="0"/>
            </a:br>
            <a:endParaRPr lang="es-MX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2CD094F-1AB3-3B9F-74E0-D11FA2B0EE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3937" y="604837"/>
            <a:ext cx="10515600" cy="2214563"/>
          </a:xfrm>
        </p:spPr>
        <p:txBody>
          <a:bodyPr/>
          <a:lstStyle/>
          <a:p>
            <a:pPr marL="0" indent="0">
              <a:buNone/>
            </a:pPr>
            <a:r>
              <a:rPr lang="es-MX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Base de datos</a:t>
            </a: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1CFE735D-CA7F-44BA-B72D-7EF7C542ED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6969" y="1628776"/>
            <a:ext cx="7358062" cy="4819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46A8C742-13B5-4445-8BBB-3584F4666739}"/>
              </a:ext>
            </a:extLst>
          </p:cNvPr>
          <p:cNvSpPr/>
          <p:nvPr/>
        </p:nvSpPr>
        <p:spPr>
          <a:xfrm>
            <a:off x="4429125" y="2447925"/>
            <a:ext cx="609600" cy="137953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NI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ACF0198C-FF68-43C8-A0A9-8F2E6F868162}"/>
              </a:ext>
            </a:extLst>
          </p:cNvPr>
          <p:cNvSpPr/>
          <p:nvPr/>
        </p:nvSpPr>
        <p:spPr>
          <a:xfrm>
            <a:off x="4295775" y="3101974"/>
            <a:ext cx="609600" cy="118903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NI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0E35BDCA-9C02-42CA-9167-173AF1B43433}"/>
              </a:ext>
            </a:extLst>
          </p:cNvPr>
          <p:cNvSpPr/>
          <p:nvPr/>
        </p:nvSpPr>
        <p:spPr>
          <a:xfrm>
            <a:off x="6657977" y="2447925"/>
            <a:ext cx="742948" cy="137953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NI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F6CAB877-F09A-4CB8-B59B-AAD2E1E758B9}"/>
              </a:ext>
            </a:extLst>
          </p:cNvPr>
          <p:cNvSpPr/>
          <p:nvPr/>
        </p:nvSpPr>
        <p:spPr>
          <a:xfrm rot="5400000">
            <a:off x="6922293" y="2917033"/>
            <a:ext cx="609600" cy="102393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10332839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C6B4CC-065F-C12E-E76D-7784420D30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31900"/>
            <a:ext cx="10515600" cy="1968500"/>
          </a:xfrm>
        </p:spPr>
        <p:txBody>
          <a:bodyPr>
            <a:normAutofit/>
          </a:bodyPr>
          <a:lstStyle/>
          <a:p>
            <a:br>
              <a:rPr lang="es-ES" dirty="0"/>
            </a:br>
            <a:endParaRPr lang="es-MX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2CD094F-1AB3-3B9F-74E0-D11FA2B0EE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3937" y="604837"/>
            <a:ext cx="10515600" cy="2214563"/>
          </a:xfrm>
        </p:spPr>
        <p:txBody>
          <a:bodyPr/>
          <a:lstStyle/>
          <a:p>
            <a:pPr marL="0" indent="0">
              <a:buNone/>
            </a:pPr>
            <a:r>
              <a:rPr lang="es-MX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Consulta en </a:t>
            </a:r>
            <a:r>
              <a:rPr lang="es-MX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MySQl</a:t>
            </a:r>
            <a:endParaRPr lang="es-MX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46A8C742-13B5-4445-8BBB-3584F4666739}"/>
              </a:ext>
            </a:extLst>
          </p:cNvPr>
          <p:cNvSpPr/>
          <p:nvPr/>
        </p:nvSpPr>
        <p:spPr>
          <a:xfrm>
            <a:off x="4429125" y="2447925"/>
            <a:ext cx="609600" cy="137953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NI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ACF0198C-FF68-43C8-A0A9-8F2E6F868162}"/>
              </a:ext>
            </a:extLst>
          </p:cNvPr>
          <p:cNvSpPr/>
          <p:nvPr/>
        </p:nvSpPr>
        <p:spPr>
          <a:xfrm>
            <a:off x="4295775" y="3101974"/>
            <a:ext cx="609600" cy="118903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NI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0E35BDCA-9C02-42CA-9167-173AF1B43433}"/>
              </a:ext>
            </a:extLst>
          </p:cNvPr>
          <p:cNvSpPr/>
          <p:nvPr/>
        </p:nvSpPr>
        <p:spPr>
          <a:xfrm>
            <a:off x="6657977" y="2447925"/>
            <a:ext cx="742948" cy="137953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NI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F6CAB877-F09A-4CB8-B59B-AAD2E1E758B9}"/>
              </a:ext>
            </a:extLst>
          </p:cNvPr>
          <p:cNvSpPr/>
          <p:nvPr/>
        </p:nvSpPr>
        <p:spPr>
          <a:xfrm rot="5400000">
            <a:off x="6922293" y="2917033"/>
            <a:ext cx="609600" cy="102393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NI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D6779BC6-7A39-40A4-B767-6DD6AC0D5F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1542" y="4113211"/>
            <a:ext cx="7097115" cy="933580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F2A5D775-8366-4D30-A065-55FF402B6A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2501" y="1312470"/>
            <a:ext cx="4363059" cy="2800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28992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C6B4CC-065F-C12E-E76D-7784420D30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31900"/>
            <a:ext cx="10515600" cy="1968500"/>
          </a:xfrm>
        </p:spPr>
        <p:txBody>
          <a:bodyPr>
            <a:normAutofit/>
          </a:bodyPr>
          <a:lstStyle/>
          <a:p>
            <a:br>
              <a:rPr lang="es-ES" dirty="0"/>
            </a:br>
            <a:endParaRPr lang="es-MX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2CD094F-1AB3-3B9F-74E0-D11FA2B0EE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3937" y="604837"/>
            <a:ext cx="10515600" cy="2214563"/>
          </a:xfrm>
        </p:spPr>
        <p:txBody>
          <a:bodyPr/>
          <a:lstStyle/>
          <a:p>
            <a:pPr marL="0" indent="0">
              <a:buNone/>
            </a:pPr>
            <a:r>
              <a:rPr lang="es-MX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Diagramas UML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DFFC55A0-AA52-4698-A0F9-915A1D6473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9775" y="1156154"/>
            <a:ext cx="8172450" cy="2119991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4337C991-FE0D-4B80-A581-95F8AAF4ED8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067882"/>
            <a:ext cx="4979472" cy="3185281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80AB9DC1-3CA6-45EB-AC6B-9F93A3AF03D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1737" y="3325959"/>
            <a:ext cx="5191125" cy="3002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96825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C6B4CC-065F-C12E-E76D-7784420D30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463" y="1374775"/>
            <a:ext cx="10515600" cy="1968500"/>
          </a:xfrm>
        </p:spPr>
        <p:txBody>
          <a:bodyPr>
            <a:normAutofit/>
          </a:bodyPr>
          <a:lstStyle/>
          <a:p>
            <a:br>
              <a:rPr lang="es-ES" dirty="0"/>
            </a:br>
            <a:endParaRPr lang="es-MX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2CD094F-1AB3-3B9F-74E0-D11FA2B0EE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3937" y="604837"/>
            <a:ext cx="10515600" cy="2214563"/>
          </a:xfrm>
        </p:spPr>
        <p:txBody>
          <a:bodyPr/>
          <a:lstStyle/>
          <a:p>
            <a:pPr marL="0" indent="0">
              <a:buNone/>
            </a:pPr>
            <a:r>
              <a:rPr lang="es-MX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Diagrama BPMN</a:t>
            </a:r>
          </a:p>
          <a:p>
            <a:pPr marL="0" indent="0">
              <a:buNone/>
            </a:pPr>
            <a:endParaRPr lang="es-MX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71C1F521-61B6-4BEB-A205-0B6DDEC566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712" y="1374775"/>
            <a:ext cx="10710576" cy="4311026"/>
          </a:xfrm>
          <a:prstGeom prst="rect">
            <a:avLst/>
          </a:prstGeom>
        </p:spPr>
      </p:pic>
      <p:cxnSp>
        <p:nvCxnSpPr>
          <p:cNvPr id="9" name="Conector: angular 8">
            <a:extLst>
              <a:ext uri="{FF2B5EF4-FFF2-40B4-BE49-F238E27FC236}">
                <a16:creationId xmlns:a16="http://schemas.microsoft.com/office/drawing/2014/main" id="{FCCD6972-2B83-4B41-9D0C-B15CA45867E9}"/>
              </a:ext>
            </a:extLst>
          </p:cNvPr>
          <p:cNvCxnSpPr>
            <a:cxnSpLocks/>
          </p:cNvCxnSpPr>
          <p:nvPr/>
        </p:nvCxnSpPr>
        <p:spPr>
          <a:xfrm rot="10800000">
            <a:off x="2707380" y="1712118"/>
            <a:ext cx="1476000" cy="0"/>
          </a:xfrm>
          <a:prstGeom prst="bentConnector3">
            <a:avLst>
              <a:gd name="adj1" fmla="val 51613"/>
            </a:avLst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399045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C6B4CC-065F-C12E-E76D-7784420D30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463" y="1431925"/>
            <a:ext cx="10515600" cy="1968500"/>
          </a:xfrm>
        </p:spPr>
        <p:txBody>
          <a:bodyPr>
            <a:normAutofit/>
          </a:bodyPr>
          <a:lstStyle/>
          <a:p>
            <a:br>
              <a:rPr lang="es-ES" dirty="0"/>
            </a:br>
            <a:endParaRPr lang="es-MX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2CD094F-1AB3-3B9F-74E0-D11FA2B0EE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3937" y="604837"/>
            <a:ext cx="10515600" cy="2214563"/>
          </a:xfrm>
        </p:spPr>
        <p:txBody>
          <a:bodyPr/>
          <a:lstStyle/>
          <a:p>
            <a:pPr marL="0" indent="0">
              <a:buNone/>
            </a:pPr>
            <a:r>
              <a:rPr lang="es-MX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Estructura de los paquetes Java</a:t>
            </a:r>
          </a:p>
          <a:p>
            <a:pPr marL="0" indent="0">
              <a:buNone/>
            </a:pPr>
            <a:endParaRPr lang="es-MX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F3A04C52-8066-438F-9C29-822D2CCF39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2917" y="1271255"/>
            <a:ext cx="1533739" cy="4772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46430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C6B4CC-065F-C12E-E76D-7784420D30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br>
              <a:rPr lang="es-ES" dirty="0"/>
            </a:br>
            <a:endParaRPr lang="es-MX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2CD094F-1AB3-3B9F-74E0-D11FA2B0EE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10100" y="540544"/>
            <a:ext cx="10515600" cy="1500187"/>
          </a:xfrm>
        </p:spPr>
        <p:txBody>
          <a:bodyPr/>
          <a:lstStyle/>
          <a:p>
            <a:pPr marL="0" indent="0">
              <a:buNone/>
            </a:pPr>
            <a:r>
              <a:rPr lang="es-MX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Conclusión</a:t>
            </a:r>
            <a:r>
              <a:rPr lang="es-MX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D1BE73BC-14FC-4989-BDBA-B24B8A2E8115}"/>
              </a:ext>
            </a:extLst>
          </p:cNvPr>
          <p:cNvSpPr/>
          <p:nvPr/>
        </p:nvSpPr>
        <p:spPr>
          <a:xfrm>
            <a:off x="2057400" y="1749830"/>
            <a:ext cx="847725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dirty="0">
                <a:solidFill>
                  <a:srgbClr val="000000"/>
                </a:solidFill>
                <a:latin typeface="Times New Roman" panose="02020603050405020304" pitchFamily="18" charset="0"/>
              </a:rPr>
              <a:t>El desarrollo del Sistema de Gestión Académica para el Centro de Estudio Leopoldina Castrillo ha permitido identificar y abordar las principales necesidades de la institución en materia de administración educativa. A continuación, se presentan las conclusiones más relevantes del proyecto:</a:t>
            </a:r>
            <a:endParaRPr lang="es-ES" dirty="0"/>
          </a:p>
          <a:p>
            <a:br>
              <a:rPr lang="es-ES" dirty="0"/>
            </a:br>
            <a:r>
              <a:rPr lang="es-ES" dirty="0">
                <a:solidFill>
                  <a:srgbClr val="000000"/>
                </a:solidFill>
                <a:latin typeface="Times New Roman" panose="02020603050405020304" pitchFamily="18" charset="0"/>
              </a:rPr>
              <a:t>El sistema implementado ha logrado digitalizar los procesos manuales que antes generaban pérdida de documentos, errores en los registros y demoras en la atención a padres y estudiantes. La aplicación de escritorio desarrollada permite almacenar de manera segura y organizada la información de estudiantes, docentes, matrículas, asistencias y calificaciones.</a:t>
            </a:r>
            <a:endParaRPr lang="es-ES" dirty="0"/>
          </a:p>
          <a:p>
            <a:br>
              <a:rPr lang="es-ES" dirty="0"/>
            </a:br>
            <a:endParaRPr lang="es-NI" dirty="0"/>
          </a:p>
        </p:txBody>
      </p:sp>
    </p:spTree>
    <p:extLst>
      <p:ext uri="{BB962C8B-B14F-4D97-AF65-F5344CB8AC3E}">
        <p14:creationId xmlns:p14="http://schemas.microsoft.com/office/powerpoint/2010/main" val="18245576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A7BF9239-FC43-62EB-3548-1F0774B876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62291" y="-177800"/>
            <a:ext cx="12217004" cy="6872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237766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598</Words>
  <Application>Microsoft Office PowerPoint</Application>
  <PresentationFormat>Panorámica</PresentationFormat>
  <Paragraphs>43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20" baseType="lpstr">
      <vt:lpstr>Arial</vt:lpstr>
      <vt:lpstr>Calibri</vt:lpstr>
      <vt:lpstr>Calibri cuerpo</vt:lpstr>
      <vt:lpstr>Calibri Light</vt:lpstr>
      <vt:lpstr>Times New Roman</vt:lpstr>
      <vt:lpstr>Tw Cen MT</vt:lpstr>
      <vt:lpstr>Wingdings</vt:lpstr>
      <vt:lpstr>Tema de Office</vt:lpstr>
      <vt:lpstr>Grupo 3 </vt:lpstr>
      <vt:lpstr>Tema  Desarrollo de una Sistema de gestión de escritorio para el centro de estudio Leopoldina Castrillo  </vt:lpstr>
      <vt:lpstr>Presentación de PowerPoint</vt:lpstr>
      <vt:lpstr>Presentación de PowerPoint</vt:lpstr>
      <vt:lpstr>Presentación de PowerPoint</vt:lpstr>
      <vt:lpstr> </vt:lpstr>
      <vt:lpstr> </vt:lpstr>
      <vt:lpstr> </vt:lpstr>
      <vt:lpstr> </vt:lpstr>
      <vt:lpstr> </vt:lpstr>
      <vt:lpstr> 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Marvin Antonio Gutiérrez Rodríguez</dc:creator>
  <cp:lastModifiedBy>dcuadra3107@gmail.com</cp:lastModifiedBy>
  <cp:revision>12</cp:revision>
  <cp:lastPrinted>2024-02-08T19:25:25Z</cp:lastPrinted>
  <dcterms:created xsi:type="dcterms:W3CDTF">2021-03-17T19:41:32Z</dcterms:created>
  <dcterms:modified xsi:type="dcterms:W3CDTF">2026-06-20T15:39:39Z</dcterms:modified>
</cp:coreProperties>
</file>