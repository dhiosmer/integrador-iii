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9" r:id="rId2"/>
    <p:sldId id="263" r:id="rId3"/>
    <p:sldId id="260" r:id="rId4"/>
    <p:sldId id="264" r:id="rId5"/>
    <p:sldId id="266" r:id="rId6"/>
    <p:sldId id="267" r:id="rId7"/>
    <p:sldId id="268" r:id="rId8"/>
    <p:sldId id="269" r:id="rId9"/>
    <p:sldId id="271" r:id="rId10"/>
    <p:sldId id="270" r:id="rId11"/>
    <p:sldId id="272" r:id="rId12"/>
    <p:sldId id="258" r:id="rId13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EB2CB1-6CC0-52DE-E79B-219F242B7F79}" name="Francisco Llanes" initials="F" userId="S::fllanes@unan.edu.ni::5aee38f5-860e-4bfb-9e87-62f4c259df1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4473"/>
    <a:srgbClr val="FAB718"/>
    <a:srgbClr val="0D98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4660"/>
  </p:normalViewPr>
  <p:slideViewPr>
    <p:cSldViewPr snapToGrid="0">
      <p:cViewPr>
        <p:scale>
          <a:sx n="50" d="100"/>
          <a:sy n="50" d="100"/>
        </p:scale>
        <p:origin x="141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s-NI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E096D6C2-88C4-41EE-9ECB-BAD832CF12AB}" type="datetimeFigureOut">
              <a:rPr lang="es-NI" smtClean="0"/>
              <a:t>16/5/2026</a:t>
            </a:fld>
            <a:endParaRPr lang="es-NI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s-NI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NI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s-NI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B8644883-4F96-4370-91F7-EC4CCCC9A888}" type="slidenum">
              <a:rPr lang="es-NI" smtClean="0"/>
              <a:t>‹Nº›</a:t>
            </a:fld>
            <a:endParaRPr lang="es-NI"/>
          </a:p>
        </p:txBody>
      </p:sp>
    </p:spTree>
    <p:extLst>
      <p:ext uri="{BB962C8B-B14F-4D97-AF65-F5344CB8AC3E}">
        <p14:creationId xmlns:p14="http://schemas.microsoft.com/office/powerpoint/2010/main" val="2372684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82" y="1789"/>
            <a:ext cx="12188817" cy="6856210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244282" y="1840523"/>
            <a:ext cx="5231026" cy="2149351"/>
          </a:xfrm>
        </p:spPr>
        <p:txBody>
          <a:bodyPr anchor="b">
            <a:noAutofit/>
          </a:bodyPr>
          <a:lstStyle>
            <a:lvl1pPr algn="l">
              <a:defRPr sz="4400" b="1">
                <a:solidFill>
                  <a:srgbClr val="0D98D7"/>
                </a:solidFill>
                <a:latin typeface="Tw Cen MT" panose="020B0602020104020603" pitchFamily="34" charset="77"/>
                <a:cs typeface="Courier New" panose="02070309020205020404" pitchFamily="49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244281" y="4242486"/>
            <a:ext cx="5231026" cy="1181450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17447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743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1" y="1856"/>
            <a:ext cx="12185521" cy="6854355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 b="1">
                <a:solidFill>
                  <a:srgbClr val="0D98D7"/>
                </a:solidFill>
                <a:latin typeface="Tw Cen MT" panose="020B0602020104020603" pitchFamily="34" charset="77"/>
                <a:cs typeface="Courier New" panose="02070309020205020404" pitchFamily="49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174473"/>
                </a:solidFill>
                <a:latin typeface="Calibri cuerpo"/>
              </a:defRPr>
            </a:lvl1pPr>
            <a:lvl2pPr>
              <a:defRPr>
                <a:solidFill>
                  <a:srgbClr val="174473"/>
                </a:solidFill>
                <a:latin typeface="Calibri cuerpo"/>
              </a:defRPr>
            </a:lvl2pPr>
            <a:lvl3pPr>
              <a:defRPr>
                <a:solidFill>
                  <a:srgbClr val="174473"/>
                </a:solidFill>
                <a:latin typeface="Calibri cuerpo"/>
              </a:defRPr>
            </a:lvl3pPr>
            <a:lvl4pPr>
              <a:defRPr>
                <a:solidFill>
                  <a:srgbClr val="174473"/>
                </a:solidFill>
                <a:latin typeface="Calibri cuerpo"/>
              </a:defRPr>
            </a:lvl4pPr>
            <a:lvl5pPr>
              <a:defRPr>
                <a:solidFill>
                  <a:srgbClr val="174473"/>
                </a:solidFill>
                <a:latin typeface="Calibri cuerpo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32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468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592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666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2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000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65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659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408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854116-522A-43FA-A07B-AF425C3CADE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7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D16971-180E-4A01-AA2F-5431FBDF3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30748" y="2205861"/>
            <a:ext cx="7041420" cy="703201"/>
          </a:xfrm>
        </p:spPr>
        <p:txBody>
          <a:bodyPr/>
          <a:lstStyle/>
          <a:p>
            <a:r>
              <a:rPr lang="es-ES" sz="2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Grupo 3</a:t>
            </a:r>
            <a:br>
              <a:rPr lang="es-ES" b="0" dirty="0"/>
            </a:br>
            <a:endParaRPr lang="es-NI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60455E1-CC1F-499D-9945-1FFD9C21EC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86413" y="2557462"/>
            <a:ext cx="5103082" cy="1080536"/>
          </a:xfrm>
        </p:spPr>
        <p:txBody>
          <a:bodyPr>
            <a:normAutofit fontScale="25000" lnSpcReduction="20000"/>
          </a:bodyPr>
          <a:lstStyle/>
          <a:p>
            <a:pPr algn="ctr"/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Estudiantes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Dhiosmer José Cuadra Miranda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Soraya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Lidieth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Calero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Calero</a:t>
            </a:r>
            <a:endParaRPr lang="es-NI" sz="4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 Gabriela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Irias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Murillo</a:t>
            </a:r>
          </a:p>
          <a:p>
            <a:pPr algn="ctr"/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Docente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Jonathan Moreno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Yesenia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Tellez</a:t>
            </a:r>
            <a:endParaRPr lang="es-NI" sz="4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Isamar Bonilla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Maria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Rios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Carlos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Matamoro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endParaRPr lang="es-NI" sz="5600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9C166A1-929D-44A8-AC97-32F41B2C9762}"/>
              </a:ext>
            </a:extLst>
          </p:cNvPr>
          <p:cNvSpPr txBox="1">
            <a:spLocks/>
          </p:cNvSpPr>
          <p:nvPr/>
        </p:nvSpPr>
        <p:spPr>
          <a:xfrm>
            <a:off x="609601" y="432825"/>
            <a:ext cx="11003819" cy="214935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D98D7"/>
                </a:solidFill>
                <a:latin typeface="Tw Cen MT" panose="020B0602020104020603" pitchFamily="34" charset="77"/>
                <a:ea typeface="+mj-ea"/>
                <a:cs typeface="Courier New" panose="02070309020205020404" pitchFamily="49" charset="0"/>
              </a:defRPr>
            </a:lvl1pPr>
          </a:lstStyle>
          <a:p>
            <a:r>
              <a:rPr lang="es-ES" b="0" dirty="0"/>
              <a:t>“</a:t>
            </a:r>
            <a:r>
              <a:rPr lang="es-ES" sz="3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Desarrollo de un Sistema de gestión de escritorio para el centro de estudio Leopoldina Castrillo </a:t>
            </a:r>
            <a:r>
              <a:rPr lang="es-ES" b="0" dirty="0"/>
              <a:t>”</a:t>
            </a:r>
            <a:br>
              <a:rPr lang="es-ES" b="0" dirty="0"/>
            </a:br>
            <a:endParaRPr lang="es-NI" dirty="0"/>
          </a:p>
        </p:txBody>
      </p:sp>
    </p:spTree>
    <p:extLst>
      <p:ext uri="{BB962C8B-B14F-4D97-AF65-F5344CB8AC3E}">
        <p14:creationId xmlns:p14="http://schemas.microsoft.com/office/powerpoint/2010/main" val="1140594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 fontScale="90000"/>
          </a:bodyPr>
          <a:lstStyle/>
          <a:p>
            <a:r>
              <a:rPr lang="es-E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Tema </a:t>
            </a:r>
            <a:br>
              <a:rPr lang="es-E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3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Desarrollo de una Sistema de gestión de escritorio para el centro de estudio Leopoldina Castrillo</a:t>
            </a:r>
            <a:br>
              <a:rPr lang="es-ES" b="0" dirty="0"/>
            </a:br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62399"/>
            <a:ext cx="10515600" cy="2214563"/>
          </a:xfrm>
        </p:spPr>
        <p:txBody>
          <a:bodyPr/>
          <a:lstStyle/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4754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BA8AD-FC36-6BBC-9BBB-B2C454868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s-ES" dirty="0"/>
            </a:br>
            <a:r>
              <a:rPr lang="es-ES" b="1" dirty="0"/>
              <a:t>  </a:t>
            </a:r>
            <a:r>
              <a:rPr lang="es-ES" b="1" dirty="0">
                <a:solidFill>
                  <a:schemeClr val="tx1"/>
                </a:solidFill>
              </a:rPr>
              <a:t>Objetivo general</a:t>
            </a:r>
          </a:p>
          <a:p>
            <a:pPr marL="0" indent="0">
              <a:buNone/>
            </a:pPr>
            <a:br>
              <a:rPr lang="es-ES" dirty="0">
                <a:solidFill>
                  <a:schemeClr val="tx1"/>
                </a:solidFill>
              </a:rPr>
            </a:br>
            <a:r>
              <a:rPr lang="es-ES" dirty="0">
                <a:solidFill>
                  <a:schemeClr val="tx1"/>
                </a:solidFill>
              </a:rPr>
              <a:t>Desarrollar una aplicación de escritorio para el centro de estudio Leopoldina Castrillo  que registre datos del estudiante, datos del docente, matrícula, notas, cortes evaluativos y asistencias</a:t>
            </a:r>
          </a:p>
          <a:p>
            <a:r>
              <a:rPr lang="es-ES" b="1" dirty="0">
                <a:solidFill>
                  <a:schemeClr val="tx1"/>
                </a:solidFill>
              </a:rPr>
              <a:t>Objetivos específicos</a:t>
            </a:r>
          </a:p>
          <a:p>
            <a:pPr fontAlgn="base"/>
            <a:br>
              <a:rPr lang="es-ES" dirty="0">
                <a:solidFill>
                  <a:schemeClr val="tx1"/>
                </a:solidFill>
              </a:rPr>
            </a:br>
            <a:r>
              <a:rPr lang="es-ES" b="1" dirty="0">
                <a:solidFill>
                  <a:schemeClr val="tx1"/>
                </a:solidFill>
              </a:rPr>
              <a:t>Modelar</a:t>
            </a:r>
            <a:r>
              <a:rPr lang="es-ES" dirty="0">
                <a:solidFill>
                  <a:schemeClr val="tx1"/>
                </a:solidFill>
              </a:rPr>
              <a:t> el sistema utilizando el paradigma </a:t>
            </a:r>
            <a:r>
              <a:rPr lang="es-ES" b="1" dirty="0">
                <a:solidFill>
                  <a:schemeClr val="tx1"/>
                </a:solidFill>
              </a:rPr>
              <a:t>POO</a:t>
            </a:r>
            <a:r>
              <a:rPr lang="es-ES" dirty="0">
                <a:solidFill>
                  <a:schemeClr val="tx1"/>
                </a:solidFill>
              </a:rPr>
              <a:t>, definiendo las clases y métodos necesarios para gestionar los roles de Administrador, Secretaria, Docente y Estudiante, asegurando la integridad de la información</a:t>
            </a:r>
          </a:p>
          <a:p>
            <a:pPr fontAlgn="base"/>
            <a:r>
              <a:rPr lang="es-ES" b="1" dirty="0">
                <a:solidFill>
                  <a:schemeClr val="tx1"/>
                </a:solidFill>
              </a:rPr>
              <a:t>Desarrollar</a:t>
            </a:r>
            <a:r>
              <a:rPr lang="es-ES" dirty="0">
                <a:solidFill>
                  <a:schemeClr val="tx1"/>
                </a:solidFill>
              </a:rPr>
              <a:t> la aplicación de escritorio con conectividad </a:t>
            </a:r>
            <a:r>
              <a:rPr lang="es-ES" dirty="0" err="1">
                <a:solidFill>
                  <a:schemeClr val="tx1"/>
                </a:solidFill>
              </a:rPr>
              <a:t>Wi</a:t>
            </a:r>
            <a:r>
              <a:rPr lang="es-ES" dirty="0">
                <a:solidFill>
                  <a:schemeClr val="tx1"/>
                </a:solidFill>
              </a:rPr>
              <a:t>-Fi local para el uso administrativo</a:t>
            </a:r>
          </a:p>
          <a:p>
            <a:pPr fontAlgn="base"/>
            <a:r>
              <a:rPr lang="es-ES" b="1" dirty="0">
                <a:solidFill>
                  <a:schemeClr val="tx1"/>
                </a:solidFill>
              </a:rPr>
              <a:t>Evaluar</a:t>
            </a:r>
            <a:r>
              <a:rPr lang="es-ES" dirty="0">
                <a:solidFill>
                  <a:schemeClr val="tx1"/>
                </a:solidFill>
              </a:rPr>
              <a:t> el impacto del sistema mediante el análisis estadístico de los tiempos de respuesta y la precisión de los reportes generados, asegurando que la herramienta contribuya a la calidad educativa del centro.</a:t>
            </a:r>
          </a:p>
          <a:p>
            <a:pPr marL="0" indent="0">
              <a:buNone/>
            </a:pPr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1786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BA8AD-FC36-6BBC-9BBB-B2C454868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b="1" dirty="0"/>
              <a:t> Introducción</a:t>
            </a:r>
          </a:p>
          <a:p>
            <a:br>
              <a:rPr lang="es-ES" dirty="0"/>
            </a:br>
            <a:r>
              <a:rPr lang="es-ES" dirty="0"/>
              <a:t>El desarrollo de la aplicación  para el colegio  Leopoldina Castrillo Morales, en la ciudad de Juigalpa, Chontales, se llevará a cabo mediante el uso de una aplicación de escritorio donde se tendrá acceso disponible.</a:t>
            </a:r>
          </a:p>
          <a:p>
            <a:br>
              <a:rPr lang="es-ES" dirty="0"/>
            </a:br>
            <a:r>
              <a:rPr lang="es-ES" dirty="0"/>
              <a:t>Ya que en la actualidad el registro de asistencias, notas de estudiantes y matrículas es uno de los principales procesos que se lleva a cabo día a día, tradicionalmente este registro se realiza de manera manual, lo que tiende a tener errores continuamente y esto reduce  la entrega de notas y estabilidad de los estudiantes.</a:t>
            </a:r>
          </a:p>
          <a:p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45005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BA8AD-FC36-6BBC-9BBB-B2C454868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1700" b="1" dirty="0"/>
              <a:t>Descripción de la problemática</a:t>
            </a:r>
          </a:p>
          <a:p>
            <a:r>
              <a:rPr lang="es-ES" sz="1700" dirty="0"/>
              <a:t>El centro de Estudio Leopoldina Castrillo enfrenta serias dificultades en la gestión de sus operaciones académicas y administrativas debido a que todos sus procesos se realizan de forma manual. La información relacionada con notas, asistencias, matrículas y datos de los estudiantes se registra únicamente en papel, lo cual genera desorden y dificulta el control adecuado de las actividades. Esta práctica tradicional no se adapta a las necesidades actuales, donde la eficiencia y la agilidad son fundamentales para brindar un servicio educativo confiable y de calidad.</a:t>
            </a:r>
          </a:p>
          <a:p>
            <a:r>
              <a:rPr lang="es-ES" sz="1700" dirty="0"/>
              <a:t>El uso de registros manuales ha provocado la pérdida frecuente de notas y documentos importantes, el registro incorrecto de asistencias, la pérdida de matrículas y una gran dificultad para actualizar o modificar los datos de los estudiantes cuando es necesario. Además, no existe un mecanismo estructurado que permita acceder rápidamente al historial académico de los alumnos o a su información personal actualizada. Esta falta de organización genera confusión interna, duplicidad de tareas y una menor satisfacción por parte de los padres de familia y estudiantes.</a:t>
            </a:r>
          </a:p>
          <a:p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55183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479425"/>
            <a:ext cx="8820150" cy="530225"/>
          </a:xfrm>
        </p:spPr>
        <p:txBody>
          <a:bodyPr>
            <a:normAutofit fontScale="90000"/>
          </a:bodyPr>
          <a:lstStyle/>
          <a:p>
            <a:r>
              <a:rPr lang="es-NI" altLang="es-NI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Tabla de usuarios y funcionalidades</a:t>
            </a:r>
            <a:endParaRPr lang="es-E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3B674F3B-E62B-46C8-9950-1DB3A776C8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8361995"/>
              </p:ext>
            </p:extLst>
          </p:nvPr>
        </p:nvGraphicFramePr>
        <p:xfrm>
          <a:off x="1066224" y="1263698"/>
          <a:ext cx="6258501" cy="3289023"/>
        </p:xfrm>
        <a:graphic>
          <a:graphicData uri="http://schemas.openxmlformats.org/drawingml/2006/table">
            <a:tbl>
              <a:tblPr/>
              <a:tblGrid>
                <a:gridCol w="353416">
                  <a:extLst>
                    <a:ext uri="{9D8B030D-6E8A-4147-A177-3AD203B41FA5}">
                      <a16:colId xmlns:a16="http://schemas.microsoft.com/office/drawing/2014/main" val="1884566866"/>
                    </a:ext>
                  </a:extLst>
                </a:gridCol>
                <a:gridCol w="1024000">
                  <a:extLst>
                    <a:ext uri="{9D8B030D-6E8A-4147-A177-3AD203B41FA5}">
                      <a16:colId xmlns:a16="http://schemas.microsoft.com/office/drawing/2014/main" val="1231981810"/>
                    </a:ext>
                  </a:extLst>
                </a:gridCol>
                <a:gridCol w="1114619">
                  <a:extLst>
                    <a:ext uri="{9D8B030D-6E8A-4147-A177-3AD203B41FA5}">
                      <a16:colId xmlns:a16="http://schemas.microsoft.com/office/drawing/2014/main" val="3020569413"/>
                    </a:ext>
                  </a:extLst>
                </a:gridCol>
                <a:gridCol w="1078370">
                  <a:extLst>
                    <a:ext uri="{9D8B030D-6E8A-4147-A177-3AD203B41FA5}">
                      <a16:colId xmlns:a16="http://schemas.microsoft.com/office/drawing/2014/main" val="1135971720"/>
                    </a:ext>
                  </a:extLst>
                </a:gridCol>
                <a:gridCol w="2688096">
                  <a:extLst>
                    <a:ext uri="{9D8B030D-6E8A-4147-A177-3AD203B41FA5}">
                      <a16:colId xmlns:a16="http://schemas.microsoft.com/office/drawing/2014/main" val="116861378"/>
                    </a:ext>
                  </a:extLst>
                </a:gridCol>
              </a:tblGrid>
              <a:tr h="204404"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No.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Tipo de usuario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Funcionalidad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Descripción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Encargado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0154247"/>
                  </a:ext>
                </a:extLst>
              </a:tr>
              <a:tr h="614619"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Administrador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ES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Registra el perfil del estudiante y docente, puede modificar los datos de cada perfil</a:t>
                      </a:r>
                      <a:endParaRPr lang="es-ES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Registrar perfil del estudiante 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Dhiosmer Cuadra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4693421"/>
                  </a:ext>
                </a:extLst>
              </a:tr>
              <a:tr h="450533"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Administrador/secretaria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ES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almacena el registro de calificaciones de los estudiantes</a:t>
                      </a:r>
                      <a:endParaRPr lang="es-ES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ES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Gestión de calificaciones: ingreso, edición y consulta.</a:t>
                      </a:r>
                      <a:endParaRPr lang="es-ES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Dhiosmer Cuadra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3789319"/>
                  </a:ext>
                </a:extLst>
              </a:tr>
              <a:tr h="204404"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Administrador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Registro de matriculas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Inscripciones estudiantiles</a:t>
                      </a:r>
                      <a:endParaRPr lang="es-NI" sz="1000" dirty="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Soraya calero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5208596"/>
                  </a:ext>
                </a:extLst>
              </a:tr>
              <a:tr h="450533"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Administrador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Estadísticas generales 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ES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Generación de reportes cuantitativos de los estudiantes y docentes.</a:t>
                      </a:r>
                      <a:endParaRPr lang="es-ES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Dhiosmer Cuadra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0998242"/>
                  </a:ext>
                </a:extLst>
              </a:tr>
              <a:tr h="778704"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Docentes</a:t>
                      </a:r>
                      <a:endParaRPr lang="es-NI" sz="1000" dirty="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Registrar  Asistencias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ES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Lleva el control diario de la presencia y ausencia del estudiante junto con los reportes de justificación de faltas o tardanza</a:t>
                      </a:r>
                      <a:endParaRPr lang="es-ES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Soraya calero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4095401"/>
                  </a:ext>
                </a:extLst>
              </a:tr>
              <a:tr h="134800"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Docentes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Registrar notas del estudiante</a:t>
                      </a:r>
                      <a:endParaRPr lang="es-NI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ES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Ingresa calificaciones de evaluación  y tareas entre otros y mantiene un registro actualizado del rendimiento de los estudiantes</a:t>
                      </a:r>
                      <a:endParaRPr lang="es-ES" sz="100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Ana Murillo</a:t>
                      </a:r>
                      <a:endParaRPr lang="es-NI" sz="1000" dirty="0">
                        <a:effectLst/>
                      </a:endParaRPr>
                    </a:p>
                  </a:txBody>
                  <a:tcPr marL="36407" marR="36407" marT="26213" marB="2621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033621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5E43F2F-B49D-48A5-94E2-BDBB4612AA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3648075" y="-2677934"/>
            <a:ext cx="9868163" cy="5827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0" rIns="91440" bIns="7617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NI" altLang="es-NI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NI" altLang="es-NI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NI" altLang="es-NI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s-NI" altLang="es-NI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NI" altLang="es-NI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4071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Tabla de roles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609387D7-00B5-4D53-B72E-240C0C95AE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5202849"/>
              </p:ext>
            </p:extLst>
          </p:nvPr>
        </p:nvGraphicFramePr>
        <p:xfrm>
          <a:off x="3271837" y="1960404"/>
          <a:ext cx="5727020" cy="4032351"/>
        </p:xfrm>
        <a:graphic>
          <a:graphicData uri="http://schemas.openxmlformats.org/drawingml/2006/table">
            <a:tbl>
              <a:tblPr/>
              <a:tblGrid>
                <a:gridCol w="1854280">
                  <a:extLst>
                    <a:ext uri="{9D8B030D-6E8A-4147-A177-3AD203B41FA5}">
                      <a16:colId xmlns:a16="http://schemas.microsoft.com/office/drawing/2014/main" val="154155979"/>
                    </a:ext>
                  </a:extLst>
                </a:gridCol>
                <a:gridCol w="1516260">
                  <a:extLst>
                    <a:ext uri="{9D8B030D-6E8A-4147-A177-3AD203B41FA5}">
                      <a16:colId xmlns:a16="http://schemas.microsoft.com/office/drawing/2014/main" val="4086288285"/>
                    </a:ext>
                  </a:extLst>
                </a:gridCol>
                <a:gridCol w="2356480">
                  <a:extLst>
                    <a:ext uri="{9D8B030D-6E8A-4147-A177-3AD203B41FA5}">
                      <a16:colId xmlns:a16="http://schemas.microsoft.com/office/drawing/2014/main" val="3786722293"/>
                    </a:ext>
                  </a:extLst>
                </a:gridCol>
              </a:tblGrid>
              <a:tr h="456282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11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Rol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11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Nombres y apellidos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s-NI" sz="11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Funciones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0691607"/>
                  </a:ext>
                </a:extLst>
              </a:tr>
              <a:tr h="581062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Product</a:t>
                      </a: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  <a:r>
                        <a:rPr lang="es-E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Owner</a:t>
                      </a:r>
                      <a:endParaRPr lang="es-ES" dirty="0">
                        <a:effectLst/>
                      </a:endParaRPr>
                    </a:p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(Propietario del producto)</a:t>
                      </a:r>
                      <a:endParaRPr lang="es-ES" dirty="0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Ana Irias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Es entender la necesidades de la institución Leopoldina Castrillo y definir el producto. </a:t>
                      </a:r>
                      <a:endParaRPr lang="es-ES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6349377"/>
                  </a:ext>
                </a:extLst>
              </a:tr>
              <a:tr h="679768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Scrum Master</a:t>
                      </a:r>
                      <a:endParaRPr lang="es-NI">
                        <a:effectLst/>
                      </a:endParaRPr>
                    </a:p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(Especialista de Scrum)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Dhiosmer Cuadra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Guiar al equipo a comprender el producto y así como motivar al equipo para entregar en tiempo y forma</a:t>
                      </a:r>
                      <a:endParaRPr lang="es-ES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4358525"/>
                  </a:ext>
                </a:extLst>
              </a:tr>
              <a:tr h="419035">
                <a:tc rowSpan="3"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Development team</a:t>
                      </a:r>
                      <a:endParaRPr lang="es-ES">
                        <a:effectLst/>
                      </a:endParaRPr>
                    </a:p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(Equipo de desarrollo)</a:t>
                      </a:r>
                      <a:endParaRPr lang="es-ES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Dhiosmer Cuadra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Diseñar interfaz del producto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624724"/>
                  </a:ext>
                </a:extLst>
              </a:tr>
              <a:tr h="419035">
                <a:tc vMerge="1">
                  <a:txBody>
                    <a:bodyPr/>
                    <a:lstStyle/>
                    <a:p>
                      <a:endParaRPr lang="es-NI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Soraya Calero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Diseñar interfaz de administrador, Docente y Estudiante</a:t>
                      </a:r>
                      <a:endParaRPr lang="es-ES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9268229"/>
                  </a:ext>
                </a:extLst>
              </a:tr>
              <a:tr h="253283">
                <a:tc vMerge="1">
                  <a:txBody>
                    <a:bodyPr/>
                    <a:lstStyle/>
                    <a:p>
                      <a:endParaRPr lang="es-NI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Ana Irias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Pruebas del producto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7515848"/>
                  </a:ext>
                </a:extLst>
              </a:tr>
              <a:tr h="660523">
                <a:tc>
                  <a:txBody>
                    <a:bodyPr/>
                    <a:lstStyle/>
                    <a:p>
                      <a:pPr fontAlgn="t"/>
                      <a:br>
                        <a:rPr lang="es-NI">
                          <a:effectLst/>
                        </a:rPr>
                      </a:br>
                      <a:endParaRPr lang="es-NI">
                        <a:effectLst/>
                      </a:endParaRPr>
                    </a:p>
                  </a:txBody>
                  <a:tcPr marL="63500" marR="63500" marT="63500" marB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Dhiosmer Cuadra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Desarrollar la lógica de programación</a:t>
                      </a:r>
                      <a:endParaRPr lang="es-ES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1235653"/>
                  </a:ext>
                </a:extLst>
              </a:tr>
              <a:tr h="521466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120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Stakeholders</a:t>
                      </a:r>
                      <a:endParaRPr lang="es-NI">
                        <a:effectLst/>
                      </a:endParaRPr>
                    </a:p>
                  </a:txBody>
                  <a:tcPr marL="63500" marR="63500" marT="63500" marB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Leopoldina Castrillo</a:t>
                      </a:r>
                      <a:endParaRPr lang="es-NI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Institicion</a:t>
                      </a:r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que usara la app</a:t>
                      </a:r>
                      <a:endParaRPr lang="es-ES" dirty="0">
                        <a:effectLst/>
                      </a:endParaRPr>
                    </a:p>
                  </a:txBody>
                  <a:tcPr marL="63500" marR="635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9931429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0C1B90AA-031A-4981-A710-931590D2B8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61187"/>
            <a:ext cx="12361864" cy="7693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7056" tIns="152352" rIns="9144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NI" altLang="es-NI" sz="12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Tabla de Roles</a:t>
            </a:r>
            <a:endParaRPr kumimoji="0" lang="es-NI" altLang="es-NI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NI" altLang="es-NI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0641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Metodologia</a:t>
            </a:r>
            <a:r>
              <a:rPr lang="es-ES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Scrum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DDA19DA2-3700-4BCB-A8D8-8B2EFA9E8F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079438"/>
              </p:ext>
            </p:extLst>
          </p:nvPr>
        </p:nvGraphicFramePr>
        <p:xfrm>
          <a:off x="3807877" y="1813924"/>
          <a:ext cx="5550436" cy="4369387"/>
        </p:xfrm>
        <a:graphic>
          <a:graphicData uri="http://schemas.openxmlformats.org/drawingml/2006/table">
            <a:tbl>
              <a:tblPr/>
              <a:tblGrid>
                <a:gridCol w="542875">
                  <a:extLst>
                    <a:ext uri="{9D8B030D-6E8A-4147-A177-3AD203B41FA5}">
                      <a16:colId xmlns:a16="http://schemas.microsoft.com/office/drawing/2014/main" val="2900411390"/>
                    </a:ext>
                  </a:extLst>
                </a:gridCol>
                <a:gridCol w="1740946">
                  <a:extLst>
                    <a:ext uri="{9D8B030D-6E8A-4147-A177-3AD203B41FA5}">
                      <a16:colId xmlns:a16="http://schemas.microsoft.com/office/drawing/2014/main" val="162909501"/>
                    </a:ext>
                  </a:extLst>
                </a:gridCol>
                <a:gridCol w="739435">
                  <a:extLst>
                    <a:ext uri="{9D8B030D-6E8A-4147-A177-3AD203B41FA5}">
                      <a16:colId xmlns:a16="http://schemas.microsoft.com/office/drawing/2014/main" val="1257020981"/>
                    </a:ext>
                  </a:extLst>
                </a:gridCol>
                <a:gridCol w="636475">
                  <a:extLst>
                    <a:ext uri="{9D8B030D-6E8A-4147-A177-3AD203B41FA5}">
                      <a16:colId xmlns:a16="http://schemas.microsoft.com/office/drawing/2014/main" val="817315461"/>
                    </a:ext>
                  </a:extLst>
                </a:gridCol>
                <a:gridCol w="870473">
                  <a:extLst>
                    <a:ext uri="{9D8B030D-6E8A-4147-A177-3AD203B41FA5}">
                      <a16:colId xmlns:a16="http://schemas.microsoft.com/office/drawing/2014/main" val="71308400"/>
                    </a:ext>
                  </a:extLst>
                </a:gridCol>
                <a:gridCol w="1020232">
                  <a:extLst>
                    <a:ext uri="{9D8B030D-6E8A-4147-A177-3AD203B41FA5}">
                      <a16:colId xmlns:a16="http://schemas.microsoft.com/office/drawing/2014/main" val="1382069204"/>
                    </a:ext>
                  </a:extLst>
                </a:gridCol>
              </a:tblGrid>
              <a:tr h="4948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ID 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Historia de </a:t>
                      </a:r>
                      <a:endParaRPr lang="es-NI" sz="15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Usuario 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Prioridad 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impacto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Importancia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Tiempo estimado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520746"/>
                  </a:ext>
                </a:extLst>
              </a:tr>
              <a:tr h="374537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HU001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Registrar perfil del estudiante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 horas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3811313"/>
                  </a:ext>
                </a:extLst>
              </a:tr>
              <a:tr h="47846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HU002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Registrar perfil del docente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 horas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7253416"/>
                  </a:ext>
                </a:extLst>
              </a:tr>
              <a:tr h="374537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HU003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Editar perfil del docente y estudiante</a:t>
                      </a:r>
                      <a:endParaRPr lang="es-ES" sz="1500" dirty="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28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 horas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4486995"/>
                  </a:ext>
                </a:extLst>
              </a:tr>
              <a:tr h="819042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HU004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Almacenar el registro de calificaciones</a:t>
                      </a:r>
                      <a:endParaRPr lang="es-ES" sz="1500" dirty="0">
                        <a:effectLst/>
                      </a:endParaRPr>
                    </a:p>
                    <a:p>
                      <a:pPr fontAlgn="t"/>
                      <a:br>
                        <a:rPr lang="es-ES" sz="1500" dirty="0">
                          <a:effectLst/>
                        </a:rPr>
                      </a:br>
                      <a:endParaRPr lang="es-ES" sz="1500" dirty="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 horas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2956351"/>
                  </a:ext>
                </a:extLst>
              </a:tr>
              <a:tr h="374537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HU005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Registro de matrículas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 horas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440880"/>
                  </a:ext>
                </a:extLst>
              </a:tr>
              <a:tr h="47846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HU006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Control estadístico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60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 horas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6193905"/>
                  </a:ext>
                </a:extLst>
              </a:tr>
              <a:tr h="47846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HU007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Regitrar asistencia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48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 horas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339139"/>
                  </a:ext>
                </a:extLst>
              </a:tr>
              <a:tr h="47846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HU008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Registrar calificaciones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</a:t>
                      </a:r>
                      <a:endParaRPr lang="es-NI" sz="150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s-NI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 horas</a:t>
                      </a:r>
                      <a:endParaRPr lang="es-NI" sz="1500" dirty="0">
                        <a:effectLst/>
                      </a:endParaRPr>
                    </a:p>
                  </a:txBody>
                  <a:tcPr marL="51447" marR="51447" marT="51447" marB="51447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2429795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EABEAB43-CE45-466E-8D02-910000D1DD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-84289"/>
            <a:ext cx="14787433" cy="625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7056" tIns="0" rIns="91440" bIns="101568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NI" altLang="es-NI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NI" altLang="es-NI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331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0338"/>
            <a:ext cx="10515600" cy="19685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Mapeo de procesos</a:t>
            </a:r>
            <a:br>
              <a:rPr lang="es-ES" dirty="0"/>
            </a:br>
            <a:endParaRPr lang="es-MX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0A441B0-E88B-4763-8A45-E7E6E69C6C9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4327" y="2321718"/>
            <a:ext cx="5683345" cy="221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9742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de datos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CFE735D-CA7F-44BA-B72D-7EF7C542ED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7451" y="1695450"/>
            <a:ext cx="7358062" cy="481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3283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0338"/>
            <a:ext cx="10515600" cy="19685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Diagrama UML</a:t>
            </a:r>
            <a:endParaRPr lang="es-MX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5F3095B-3C79-4A1C-BDBD-A0F5F3495B6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0475" y="1825625"/>
            <a:ext cx="555105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0726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7BF9239-FC43-62EB-3548-1F0774B876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1" y="0"/>
            <a:ext cx="12217004" cy="6872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3776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835</Words>
  <Application>Microsoft Office PowerPoint</Application>
  <PresentationFormat>Panorámica</PresentationFormat>
  <Paragraphs>155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0" baseType="lpstr">
      <vt:lpstr>Arial</vt:lpstr>
      <vt:lpstr>Calibri</vt:lpstr>
      <vt:lpstr>Calibri cuerpo</vt:lpstr>
      <vt:lpstr>Calibri Light</vt:lpstr>
      <vt:lpstr>Times New Roman</vt:lpstr>
      <vt:lpstr>Tw Cen MT</vt:lpstr>
      <vt:lpstr>Wingdings</vt:lpstr>
      <vt:lpstr>Tema de Office</vt:lpstr>
      <vt:lpstr>Grupo 3 </vt:lpstr>
      <vt:lpstr>Tema  Desarrollo de una Sistema de gestión de escritorio para el centro de estudio Leopoldina Castrillo  </vt:lpstr>
      <vt:lpstr>Presentación de PowerPoint</vt:lpstr>
      <vt:lpstr>Presentación de PowerPoint</vt:lpstr>
      <vt:lpstr>Presentación de PowerPoint</vt:lpstr>
      <vt:lpstr>Tabla de usuarios y funcionalidades</vt:lpstr>
      <vt:lpstr>Tabla de roles</vt:lpstr>
      <vt:lpstr>Metodologia Scrum</vt:lpstr>
      <vt:lpstr>Mapeo de procesos </vt:lpstr>
      <vt:lpstr> </vt:lpstr>
      <vt:lpstr>Diagrama UML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Marvin Antonio Gutiérrez Rodríguez</dc:creator>
  <cp:lastModifiedBy>dcuadra3107@gmail.com</cp:lastModifiedBy>
  <cp:revision>9</cp:revision>
  <cp:lastPrinted>2024-02-08T19:25:25Z</cp:lastPrinted>
  <dcterms:created xsi:type="dcterms:W3CDTF">2021-03-17T19:41:32Z</dcterms:created>
  <dcterms:modified xsi:type="dcterms:W3CDTF">2026-05-16T15:46:57Z</dcterms:modified>
</cp:coreProperties>
</file>